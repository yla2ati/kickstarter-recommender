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48" d="100"/>
          <a:sy n="48" d="100"/>
        </p:scale>
        <p:origin x="53" y="7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12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11155680" cy="10972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</a:rPr>
              <a:t>Kickstarter Pre-Launch Recommender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155680" cy="9144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Pre-launch success prediction with SHAP-grounded creator advice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155680" cy="3139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800" b="1" dirty="0">
                <a:solidFill>
                  <a:srgbClr val="122A4F"/>
                </a:solidFill>
              </a:rPr>
              <a:t>Omar Doughan</a:t>
            </a:r>
            <a:r>
              <a:rPr lang="en-US" dirty="0">
                <a:solidFill>
                  <a:srgbClr val="555555"/>
                </a:solidFill>
              </a:rPr>
              <a:t> ·</a:t>
            </a:r>
            <a:r>
              <a:rPr lang="en-US" sz="1800" b="1" dirty="0">
                <a:solidFill>
                  <a:srgbClr val="122A4F"/>
                </a:solidFill>
              </a:rPr>
              <a:t> Ryan Masri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111556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 dirty="0" err="1">
                <a:solidFill>
                  <a:srgbClr val="555555"/>
                </a:solidFill>
              </a:rPr>
              <a:t>XGBoost</a:t>
            </a:r>
            <a:r>
              <a:rPr sz="1400" b="0" dirty="0">
                <a:solidFill>
                  <a:srgbClr val="555555"/>
                </a:solidFill>
              </a:rPr>
              <a:t>  ·  SHAP  ·  </a:t>
            </a:r>
            <a:r>
              <a:rPr sz="1400" b="0" dirty="0" err="1">
                <a:solidFill>
                  <a:srgbClr val="555555"/>
                </a:solidFill>
              </a:rPr>
              <a:t>Streamlit</a:t>
            </a:r>
            <a:r>
              <a:rPr sz="1400" b="0" dirty="0">
                <a:solidFill>
                  <a:srgbClr val="555555"/>
                </a:solidFill>
              </a:rPr>
              <a:t>  ·  Hugging Face Spaces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2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22A4F"/>
                </a:solidFill>
              </a:rPr>
              <a:t>Most Kickstarter campaigns fail. Creators want to know why.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9728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~40% of Kickstarter campaigns since 2009 failed to hit their funding goal.</a:t>
            </a:r>
          </a:p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Existing 'success predictor' tools give a single number — no guidance.</a:t>
            </a:r>
          </a:p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Goal: a tool a creator can use BEFORE launch to (1) estimate success probability and (2) get specific, feature-level advice on what to change.</a:t>
            </a:r>
          </a:p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Constraint: predictions must use only what the creator controls at launch — no post-outcome features, no curatorial signals.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55448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 dirty="0">
                <a:solidFill>
                  <a:srgbClr val="555555"/>
                </a:solidFill>
              </a:rPr>
              <a:t>2 / </a:t>
            </a:r>
            <a:r>
              <a:rPr lang="en-US" sz="1000" b="0" dirty="0">
                <a:solidFill>
                  <a:srgbClr val="555555"/>
                </a:solidFill>
              </a:rPr>
              <a:t>11</a:t>
            </a:r>
            <a:endParaRPr sz="1000" b="0" dirty="0">
              <a:solidFill>
                <a:srgbClr val="555555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0" dirty="0">
                <a:solidFill>
                  <a:srgbClr val="555555"/>
                </a:solidFill>
              </a:rPr>
              <a:t>Kickstarter Pre-Launch Recommender  ·  Omar Doughan</a:t>
            </a:r>
            <a:r>
              <a:rPr lang="en-US" sz="1000" b="0" dirty="0">
                <a:solidFill>
                  <a:srgbClr val="555555"/>
                </a:solidFill>
              </a:rPr>
              <a:t> </a:t>
            </a:r>
            <a:r>
              <a:rPr lang="en-US" sz="1000" dirty="0">
                <a:solidFill>
                  <a:srgbClr val="555555"/>
                </a:solidFill>
              </a:rPr>
              <a:t> ·  Ryan Masri</a:t>
            </a:r>
            <a:endParaRPr sz="1000" b="0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2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22A4F"/>
                </a:solidFill>
              </a:rPr>
              <a:t>334k resolved campaigns, split by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51760" cy="1280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22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265176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2800" b="1">
                <a:solidFill>
                  <a:srgbClr val="122A4F"/>
                </a:solidFill>
              </a:rPr>
              <a:t>334,080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265176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</a:rPr>
              <a:t>TOTAL CAMPAIGNS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828800"/>
            <a:ext cx="2651760" cy="1280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0E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1965960"/>
            <a:ext cx="265176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2800" b="1">
                <a:solidFill>
                  <a:srgbClr val="0E9F6E"/>
                </a:solidFill>
              </a:rPr>
              <a:t>236,520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606040"/>
            <a:ext cx="265176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</a:rPr>
              <a:t>TRAIN  (&lt;2022)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2651760" cy="1280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1965960"/>
            <a:ext cx="265176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2800" b="1">
                <a:solidFill>
                  <a:srgbClr val="D97706"/>
                </a:solidFill>
              </a:rPr>
              <a:t>97,560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606040"/>
            <a:ext cx="265176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</a:rPr>
              <a:t>TEST  (≥2022)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1828800"/>
            <a:ext cx="2651760" cy="1280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22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52560" y="1965960"/>
            <a:ext cx="265176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2800" b="1">
                <a:solidFill>
                  <a:srgbClr val="122A4F"/>
                </a:solidFill>
              </a:rPr>
              <a:t>596,114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2606040"/>
            <a:ext cx="265176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</a:rPr>
              <a:t>FEATURE DIMS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83280"/>
            <a:ext cx="10972800" cy="25237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 dirty="0">
                <a:solidFill>
                  <a:srgbClr val="555555"/>
                </a:solidFill>
              </a:rPr>
              <a:t>Source: </a:t>
            </a:r>
            <a:r>
              <a:rPr sz="1400" b="0" dirty="0" err="1">
                <a:solidFill>
                  <a:srgbClr val="555555"/>
                </a:solidFill>
              </a:rPr>
              <a:t>WebRobots</a:t>
            </a:r>
            <a:r>
              <a:rPr sz="1400" b="0" dirty="0">
                <a:solidFill>
                  <a:srgbClr val="555555"/>
                </a:solidFill>
              </a:rPr>
              <a:t> monthly Kickstarter scrapes (2009 –</a:t>
            </a:r>
            <a:r>
              <a:rPr lang="en-US" sz="1400" b="0" dirty="0">
                <a:solidFill>
                  <a:srgbClr val="555555"/>
                </a:solidFill>
              </a:rPr>
              <a:t> </a:t>
            </a:r>
            <a:r>
              <a:rPr sz="1400" b="0" dirty="0">
                <a:solidFill>
                  <a:srgbClr val="555555"/>
                </a:solidFill>
              </a:rPr>
              <a:t>2026)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23360"/>
            <a:ext cx="10972800" cy="1528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Time-based split, not random — a random split leaks future info into training.</a:t>
            </a:r>
          </a:p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Tabular block (52 dims): goal, duration, category, country, video flag, launch timing, blurb stats, Google Trends momentum.</a:t>
            </a:r>
          </a:p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Text block (596,062 dims): word + character TF-IDF on the</a:t>
            </a:r>
            <a:r>
              <a:rPr lang="en-US" sz="2000" dirty="0">
                <a:solidFill>
                  <a:srgbClr val="122A4F"/>
                </a:solidFill>
              </a:rPr>
              <a:t> campaign title + </a:t>
            </a:r>
            <a:r>
              <a:rPr sz="2000" dirty="0">
                <a:solidFill>
                  <a:srgbClr val="122A4F"/>
                </a:solidFill>
              </a:rPr>
              <a:t>blurb.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55448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 dirty="0">
                <a:solidFill>
                  <a:srgbClr val="555555"/>
                </a:solidFill>
              </a:rPr>
              <a:t>3 / </a:t>
            </a:r>
            <a:r>
              <a:rPr lang="en-US" sz="1000" b="0" dirty="0">
                <a:solidFill>
                  <a:srgbClr val="555555"/>
                </a:solidFill>
              </a:rPr>
              <a:t>11</a:t>
            </a:r>
            <a:endParaRPr sz="1000" b="0" dirty="0">
              <a:solidFill>
                <a:srgbClr val="555555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731520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0" dirty="0">
                <a:solidFill>
                  <a:srgbClr val="555555"/>
                </a:solidFill>
              </a:rPr>
              <a:t>Kickstarter Pre-Launch Recommender  ·  Omar Doughan</a:t>
            </a:r>
            <a:r>
              <a:rPr lang="en-US" sz="1000" b="0" dirty="0">
                <a:solidFill>
                  <a:srgbClr val="555555"/>
                </a:solidFill>
              </a:rPr>
              <a:t> </a:t>
            </a:r>
            <a:r>
              <a:rPr lang="en-US" sz="1000" dirty="0">
                <a:solidFill>
                  <a:srgbClr val="555555"/>
                </a:solidFill>
              </a:rPr>
              <a:t> ·  Ryan Masri</a:t>
            </a:r>
            <a:endParaRPr sz="1000" b="0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2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22A4F"/>
                </a:solidFill>
              </a:rPr>
              <a:t>First model scored AUROC 1.00 — that was the bug, not the win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064240" cy="18288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DC2626"/>
                </a:solidFill>
              </a:rPr>
              <a:t>LEAK FOUND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10515600" cy="1371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0">
                <a:solidFill>
                  <a:srgbClr val="122A4F"/>
                </a:solidFill>
              </a:rPr>
              <a:t>is_spotlight  →  Pearson correlation = 1.00 with the label.</a:t>
            </a:r>
          </a:p>
          <a:p>
            <a:pPr algn="l"/>
            <a:r>
              <a:rPr sz="1800" b="0">
                <a:solidFill>
                  <a:srgbClr val="122A4F"/>
                </a:solidFill>
              </a:rPr>
              <a:t>Kickstarter only sets that flag AFTER a campaign succeeds. Post-outcome.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22A4F"/>
                </a:solidFill>
              </a:rPr>
              <a:t>Two features dropped: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22A4F"/>
                </a:solidFill>
              </a:rPr>
              <a:t>•  is_spotlight — strictly post-outcome.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22A4F"/>
                </a:solidFill>
              </a:rPr>
              <a:t>•  is_staff_pick — curatorial signal, not creator-controllable.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22A4F"/>
                </a:solidFill>
              </a:rPr>
              <a:t>•  Final feature set: 52 tabular + 596k TF-IDF, all controllable at launch.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55448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 dirty="0">
                <a:solidFill>
                  <a:srgbClr val="555555"/>
                </a:solidFill>
              </a:rPr>
              <a:t>4 / </a:t>
            </a:r>
            <a:r>
              <a:rPr lang="en-US" sz="1000" b="0" dirty="0">
                <a:solidFill>
                  <a:srgbClr val="555555"/>
                </a:solidFill>
              </a:rPr>
              <a:t>11</a:t>
            </a:r>
            <a:endParaRPr sz="1000" b="0" dirty="0">
              <a:solidFill>
                <a:srgbClr val="555555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731520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0" dirty="0">
                <a:solidFill>
                  <a:srgbClr val="555555"/>
                </a:solidFill>
              </a:rPr>
              <a:t>Kickstarter Pre-Launch Recommender  ·  Omar Doughan</a:t>
            </a:r>
            <a:r>
              <a:rPr lang="en-US" sz="1000" b="0" dirty="0">
                <a:solidFill>
                  <a:srgbClr val="555555"/>
                </a:solidFill>
              </a:rPr>
              <a:t> </a:t>
            </a:r>
            <a:r>
              <a:rPr lang="en-US" sz="1000" dirty="0">
                <a:solidFill>
                  <a:srgbClr val="555555"/>
                </a:solidFill>
              </a:rPr>
              <a:t> ·  Ryan Masri</a:t>
            </a:r>
            <a:endParaRPr sz="1000" b="0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2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22A4F"/>
                </a:solidFill>
              </a:rPr>
              <a:t>Baseline → tabular XGBoost → full text+tabular XGBoost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11064240" cy="640080"/>
          </a:xfrm>
          <a:prstGeom prst="rect">
            <a:avLst/>
          </a:prstGeom>
          <a:solidFill>
            <a:srgbClr val="122A4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42062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965960"/>
            <a:ext cx="3840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1965960"/>
            <a:ext cx="19202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Test AUROC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68880"/>
            <a:ext cx="11064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42062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0">
                <a:solidFill>
                  <a:srgbClr val="122A4F"/>
                </a:solidFill>
              </a:rPr>
              <a:t>Logistic Regression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606040"/>
            <a:ext cx="3840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0">
                <a:solidFill>
                  <a:srgbClr val="122A4F"/>
                </a:solidFill>
              </a:rPr>
              <a:t>52 tabular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2606040"/>
            <a:ext cx="19202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22A4F"/>
                </a:solidFill>
              </a:rPr>
              <a:t>0.773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108960"/>
            <a:ext cx="1106424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246120"/>
            <a:ext cx="42062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0">
                <a:solidFill>
                  <a:srgbClr val="122A4F"/>
                </a:solidFill>
              </a:rPr>
              <a:t>XGBoost (tabular)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246120"/>
            <a:ext cx="3840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0">
                <a:solidFill>
                  <a:srgbClr val="122A4F"/>
                </a:solidFill>
              </a:rPr>
              <a:t>52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3246120"/>
            <a:ext cx="19202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22A4F"/>
                </a:solidFill>
              </a:rPr>
              <a:t>0.826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49040"/>
            <a:ext cx="11064240" cy="640080"/>
          </a:xfrm>
          <a:prstGeom prst="rect">
            <a:avLst/>
          </a:prstGeom>
          <a:solidFill>
            <a:srgbClr val="DCFCE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3886200"/>
            <a:ext cx="42062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0E9F6E"/>
                </a:solidFill>
              </a:rPr>
              <a:t>XGBoost (full)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886200"/>
            <a:ext cx="38404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0E9F6E"/>
                </a:solidFill>
              </a:rPr>
              <a:t>596,114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886200"/>
            <a:ext cx="19202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0E9F6E"/>
                </a:solidFill>
              </a:rPr>
              <a:t>0.868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663440"/>
            <a:ext cx="10972800" cy="1220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Tabular-only </a:t>
            </a:r>
            <a:r>
              <a:rPr sz="2000" dirty="0" err="1">
                <a:solidFill>
                  <a:srgbClr val="122A4F"/>
                </a:solidFill>
              </a:rPr>
              <a:t>XGBoost</a:t>
            </a:r>
            <a:r>
              <a:rPr sz="2000" dirty="0">
                <a:solidFill>
                  <a:srgbClr val="122A4F"/>
                </a:solidFill>
              </a:rPr>
              <a:t> = the deployable demo (8.5 MB model).</a:t>
            </a:r>
          </a:p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Full model (596k features) trained on RTX 5070 with </a:t>
            </a:r>
            <a:r>
              <a:rPr sz="2000" dirty="0" err="1">
                <a:solidFill>
                  <a:srgbClr val="122A4F"/>
                </a:solidFill>
              </a:rPr>
              <a:t>QuantileDMatrix</a:t>
            </a:r>
            <a:r>
              <a:rPr sz="2000" dirty="0">
                <a:solidFill>
                  <a:srgbClr val="122A4F"/>
                </a:solidFill>
              </a:rPr>
              <a:t> to fit 12 GB VRAM.</a:t>
            </a:r>
          </a:p>
          <a:p>
            <a:pPr algn="l"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TF-IDF adds ~4 AUROC points — text helps, but tabular carries the bulk of the signal.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55448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 dirty="0">
                <a:solidFill>
                  <a:srgbClr val="555555"/>
                </a:solidFill>
              </a:rPr>
              <a:t>5 / </a:t>
            </a:r>
            <a:r>
              <a:rPr lang="en-US" sz="1000" b="0" dirty="0">
                <a:solidFill>
                  <a:srgbClr val="555555"/>
                </a:solidFill>
              </a:rPr>
              <a:t>11</a:t>
            </a:r>
            <a:endParaRPr sz="1000" b="0" dirty="0">
              <a:solidFill>
                <a:srgbClr val="555555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731520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0" dirty="0">
                <a:solidFill>
                  <a:srgbClr val="555555"/>
                </a:solidFill>
              </a:rPr>
              <a:t>Kickstarter Pre-Launch Recommender  ·  Omar Doughan</a:t>
            </a:r>
            <a:r>
              <a:rPr lang="en-US" sz="1000" b="0" dirty="0">
                <a:solidFill>
                  <a:srgbClr val="555555"/>
                </a:solidFill>
              </a:rPr>
              <a:t> </a:t>
            </a:r>
            <a:r>
              <a:rPr lang="en-US" sz="1000" dirty="0">
                <a:solidFill>
                  <a:srgbClr val="555555"/>
                </a:solidFill>
              </a:rPr>
              <a:t> ·  Ryan Masri</a:t>
            </a:r>
            <a:endParaRPr sz="1000" b="0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2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22A4F"/>
                </a:solidFill>
              </a:rPr>
              <a:t>From a probability score to actionable advice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0">
                <a:solidFill>
                  <a:srgbClr val="122A4F"/>
                </a:solidFill>
              </a:rPr>
              <a:t>Translate per-feature SHAP attributions into plain-language advice.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77440"/>
            <a:ext cx="11064240" cy="1828800"/>
          </a:xfrm>
          <a:prstGeom prst="rect">
            <a:avLst/>
          </a:prstGeom>
          <a:solidFill>
            <a:srgbClr val="F5F5F5"/>
          </a:solidFill>
          <a:ln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10698480" cy="15544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122A4F"/>
                </a:solidFill>
              </a:rPr>
              <a:t>Rule fires only when:</a:t>
            </a:r>
          </a:p>
          <a:p>
            <a:pPr algn="l"/>
            <a:r>
              <a:rPr sz="1600" b="0">
                <a:solidFill>
                  <a:srgbClr val="122A4F"/>
                </a:solidFill>
              </a:rPr>
              <a:t>    SHAP[feature] &lt; -0.05    AND    suggestion is valid for the current value</a:t>
            </a:r>
          </a:p>
          <a:p>
            <a:pPr algn="l"/>
            <a:r>
              <a:rPr sz="1600" b="0">
                <a:solidFill>
                  <a:srgbClr val="122A4F"/>
                </a:solidFill>
              </a:rPr>
              <a:t>Example: won't suggest 'add a video' if has_video already =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122A4F"/>
                </a:solidFill>
              </a:rPr>
              <a:t>Sample output: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846320"/>
            <a:ext cx="10972800" cy="1463040"/>
          </a:xfrm>
          <a:prstGeom prst="rect">
            <a:avLst/>
          </a:prstGeom>
          <a:solidFill>
            <a:srgbClr val="FFFFFF"/>
          </a:solidFill>
          <a:ln w="25400">
            <a:solidFill>
              <a:srgbClr val="0E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937760"/>
            <a:ext cx="10607040" cy="1371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0">
                <a:solidFill>
                  <a:srgbClr val="122A4F"/>
                </a:solidFill>
              </a:rPr>
              <a:t>“Your goal of $250,000 may be too high for this profile. Consider lowering it.”</a:t>
            </a:r>
          </a:p>
          <a:p>
            <a:pPr algn="l"/>
            <a:r>
              <a:rPr sz="1500" b="0">
                <a:solidFill>
                  <a:srgbClr val="122A4F"/>
                </a:solidFill>
              </a:rPr>
              <a:t>“A 60-day campaign hurts your odds — most successful campaigns run 21–35 days.”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55448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 dirty="0">
                <a:solidFill>
                  <a:srgbClr val="555555"/>
                </a:solidFill>
              </a:rPr>
              <a:t>6 / </a:t>
            </a:r>
            <a:r>
              <a:rPr lang="en-US" sz="1000" b="0" dirty="0">
                <a:solidFill>
                  <a:srgbClr val="555555"/>
                </a:solidFill>
              </a:rPr>
              <a:t>11</a:t>
            </a:r>
            <a:endParaRPr sz="1000" b="0" dirty="0">
              <a:solidFill>
                <a:srgbClr val="555555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731520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0" dirty="0">
                <a:solidFill>
                  <a:srgbClr val="555555"/>
                </a:solidFill>
              </a:rPr>
              <a:t>Kickstarter Pre-Launch Recommender  ·  Omar Doughan</a:t>
            </a:r>
            <a:r>
              <a:rPr lang="en-US" sz="1000" b="0" dirty="0">
                <a:solidFill>
                  <a:srgbClr val="555555"/>
                </a:solidFill>
              </a:rPr>
              <a:t> </a:t>
            </a:r>
            <a:r>
              <a:rPr lang="en-US" sz="1000" dirty="0">
                <a:solidFill>
                  <a:srgbClr val="555555"/>
                </a:solidFill>
              </a:rPr>
              <a:t> ·  Ryan Masri</a:t>
            </a:r>
            <a:endParaRPr sz="1000" b="0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2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22A4F"/>
                </a:solidFill>
              </a:rPr>
              <a:t>A 2010-trained model is unsafe on 2022 campaigns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64240" cy="502920"/>
          </a:xfrm>
          <a:prstGeom prst="rect">
            <a:avLst/>
          </a:prstGeom>
          <a:solidFill>
            <a:srgbClr val="122A4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10512"/>
            <a:ext cx="23774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Train window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810512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AUROC on own holdout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810512"/>
            <a:ext cx="23774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AUROC on 2022+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1810512"/>
            <a:ext cx="19202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40280"/>
            <a:ext cx="11064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313432"/>
            <a:ext cx="23774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122A4F"/>
                </a:solidFill>
              </a:rPr>
              <a:t>2010 – 2014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313432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122A4F"/>
                </a:solidFill>
              </a:rPr>
              <a:t>0.80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313432"/>
            <a:ext cx="23774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122A4F"/>
                </a:solidFill>
              </a:rPr>
              <a:t>0.64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313432"/>
            <a:ext cx="19202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DC2626"/>
                </a:solidFill>
              </a:rPr>
              <a:t>+0.16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743200"/>
            <a:ext cx="11064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2816352"/>
            <a:ext cx="23774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122A4F"/>
                </a:solidFill>
              </a:rPr>
              <a:t>2015 – 2017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816352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122A4F"/>
                </a:solidFill>
              </a:rPr>
              <a:t>0.81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816352"/>
            <a:ext cx="23774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122A4F"/>
                </a:solidFill>
              </a:rPr>
              <a:t>0.76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2816352"/>
            <a:ext cx="19202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DC2626"/>
                </a:solidFill>
              </a:rPr>
              <a:t>+0.05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246120"/>
            <a:ext cx="11064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3319272"/>
            <a:ext cx="23774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122A4F"/>
                </a:solidFill>
              </a:rPr>
              <a:t>2018 – 2020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319272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122A4F"/>
                </a:solidFill>
              </a:rPr>
              <a:t>0.83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319272"/>
            <a:ext cx="23774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122A4F"/>
                </a:solidFill>
              </a:rPr>
              <a:t>0.79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3319272"/>
            <a:ext cx="19202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122A4F"/>
                </a:solidFill>
              </a:rPr>
              <a:t>+0.04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749040"/>
            <a:ext cx="11064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3822192"/>
            <a:ext cx="23774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122A4F"/>
                </a:solidFill>
              </a:rPr>
              <a:t>2021+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3822192"/>
            <a:ext cx="292608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122A4F"/>
                </a:solidFill>
              </a:rPr>
              <a:t>0.83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822192"/>
            <a:ext cx="23774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122A4F"/>
                </a:solidFill>
              </a:rPr>
              <a:t>0.86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0" y="3822192"/>
            <a:ext cx="192024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0">
                <a:solidFill>
                  <a:srgbClr val="0E9F6E"/>
                </a:solidFill>
              </a:rPr>
              <a:t>−0.03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9377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 dirty="0">
                <a:solidFill>
                  <a:srgbClr val="122A4F"/>
                </a:solidFill>
              </a:rPr>
              <a:t>Take-away: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349240"/>
            <a:ext cx="10972800" cy="687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dirty="0">
                <a:solidFill>
                  <a:srgbClr val="122A4F"/>
                </a:solidFill>
              </a:rPr>
              <a:t>•  Old data does not transfer — Kickstarter's distribution has shifted materially.</a:t>
            </a:r>
          </a:p>
          <a:p>
            <a:pPr algn="l">
              <a:spcAft>
                <a:spcPts val="800"/>
              </a:spcAft>
            </a:pPr>
            <a:r>
              <a:rPr sz="1600" dirty="0">
                <a:solidFill>
                  <a:srgbClr val="122A4F"/>
                </a:solidFill>
              </a:rPr>
              <a:t>•  We retrain on rolling windows. We do </a:t>
            </a:r>
            <a:r>
              <a:rPr lang="en-US" sz="1600" dirty="0">
                <a:solidFill>
                  <a:srgbClr val="122A4F"/>
                </a:solidFill>
              </a:rPr>
              <a:t>not</a:t>
            </a:r>
            <a:r>
              <a:rPr sz="1600" dirty="0">
                <a:solidFill>
                  <a:srgbClr val="122A4F"/>
                </a:solidFill>
              </a:rPr>
              <a:t> trust a 2014 model on 2025 campaigns.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46520"/>
            <a:ext cx="155448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 dirty="0">
                <a:solidFill>
                  <a:srgbClr val="555555"/>
                </a:solidFill>
              </a:rPr>
              <a:t>7 / </a:t>
            </a:r>
            <a:r>
              <a:rPr lang="en-US" sz="1000" b="0" dirty="0">
                <a:solidFill>
                  <a:srgbClr val="555555"/>
                </a:solidFill>
              </a:rPr>
              <a:t>11</a:t>
            </a:r>
            <a:endParaRPr sz="1000" b="0" dirty="0">
              <a:solidFill>
                <a:srgbClr val="555555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65760" y="6446520"/>
            <a:ext cx="731520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0" dirty="0">
                <a:solidFill>
                  <a:srgbClr val="555555"/>
                </a:solidFill>
              </a:rPr>
              <a:t>Kickstarter Pre-Launch Recommender  ·  Omar Doughan</a:t>
            </a:r>
            <a:r>
              <a:rPr lang="en-US" sz="1000" b="0" dirty="0">
                <a:solidFill>
                  <a:srgbClr val="555555"/>
                </a:solidFill>
              </a:rPr>
              <a:t> </a:t>
            </a:r>
            <a:r>
              <a:rPr lang="en-US" sz="1000" dirty="0">
                <a:solidFill>
                  <a:srgbClr val="555555"/>
                </a:solidFill>
              </a:rPr>
              <a:t> ·  Ryan Masri</a:t>
            </a:r>
            <a:endParaRPr sz="1000" b="0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2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22A4F"/>
                </a:solidFill>
              </a:rPr>
              <a:t>Google Trends momentum did not improve 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972800" cy="34471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0" dirty="0">
                <a:solidFill>
                  <a:srgbClr val="122A4F"/>
                </a:solidFill>
              </a:rPr>
              <a:t>Hypothesis: campaigns launched during topic spikes (per Google Trends) would outperform.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11064240" cy="228600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1">
                <a:solidFill>
                  <a:srgbClr val="D97706"/>
                </a:solidFill>
              </a:rPr>
              <a:t>ABLATION 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0">
                <a:solidFill>
                  <a:srgbClr val="122A4F"/>
                </a:solidFill>
              </a:rPr>
              <a:t>Full model with Google Trends      :   AUROC 0.868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05156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000" b="0">
                <a:solidFill>
                  <a:srgbClr val="122A4F"/>
                </a:solidFill>
              </a:rPr>
              <a:t>Full model WITHOUT Google Trends :   AUROC 0.869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89120"/>
            <a:ext cx="1051560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800" b="1">
                <a:solidFill>
                  <a:srgbClr val="D97706"/>
                </a:solidFill>
              </a:rPr>
              <a:t>Difference: ≤ noise. Trends adds nothing on test.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94960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0">
                <a:solidFill>
                  <a:srgbClr val="555555"/>
                </a:solidFill>
              </a:rPr>
              <a:t>Reporting this honestly. The signal looked plausible a priori; the data did not support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55448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 dirty="0">
                <a:solidFill>
                  <a:srgbClr val="555555"/>
                </a:solidFill>
              </a:rPr>
              <a:t>8 / </a:t>
            </a:r>
            <a:r>
              <a:rPr lang="en-US" sz="1000" b="0" dirty="0">
                <a:solidFill>
                  <a:srgbClr val="555555"/>
                </a:solidFill>
              </a:rPr>
              <a:t>11</a:t>
            </a:r>
            <a:endParaRPr sz="1000" b="0" dirty="0">
              <a:solidFill>
                <a:srgbClr val="555555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731520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0" dirty="0">
                <a:solidFill>
                  <a:srgbClr val="555555"/>
                </a:solidFill>
              </a:rPr>
              <a:t>Kickstarter Pre-Launch Recommender  ·  Omar Doughan</a:t>
            </a:r>
            <a:r>
              <a:rPr lang="en-US" sz="1000" b="0" dirty="0">
                <a:solidFill>
                  <a:srgbClr val="555555"/>
                </a:solidFill>
              </a:rPr>
              <a:t> </a:t>
            </a:r>
            <a:r>
              <a:rPr lang="en-US" sz="1000" dirty="0">
                <a:solidFill>
                  <a:srgbClr val="555555"/>
                </a:solidFill>
              </a:rPr>
              <a:t> ·  Ryan Masri</a:t>
            </a:r>
            <a:endParaRPr sz="1000" b="0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2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22A4F"/>
                </a:solidFill>
              </a:rPr>
              <a:t>Live on Hugging Face Spaces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9728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</a:t>
            </a:r>
            <a:r>
              <a:rPr sz="2000" dirty="0" err="1">
                <a:solidFill>
                  <a:srgbClr val="122A4F"/>
                </a:solidFill>
              </a:rPr>
              <a:t>Streamlit</a:t>
            </a:r>
            <a:r>
              <a:rPr sz="2000" dirty="0">
                <a:solidFill>
                  <a:srgbClr val="122A4F"/>
                </a:solidFill>
              </a:rPr>
              <a:t> app, Docker SDK, free CPU tier, private (collaborator access).</a:t>
            </a:r>
          </a:p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Two modes:  (1) enter a hypothetical campaign,  (2) load a real held-out post-2022 campaign and predict its outcome.</a:t>
            </a:r>
          </a:p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Output: probability  +  top SHAP contributors  +  natural-language advice.</a:t>
            </a:r>
          </a:p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Ships the tabular </a:t>
            </a:r>
            <a:r>
              <a:rPr sz="2000" dirty="0" err="1">
                <a:solidFill>
                  <a:srgbClr val="122A4F"/>
                </a:solidFill>
              </a:rPr>
              <a:t>XGBoost</a:t>
            </a:r>
            <a:r>
              <a:rPr sz="2000" dirty="0">
                <a:solidFill>
                  <a:srgbClr val="122A4F"/>
                </a:solidFill>
              </a:rPr>
              <a:t> (8.5 MB).  Full 596k-feature model is too large for a free demo — we trade ~4 AUROC points for portability.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212080"/>
            <a:ext cx="110642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69848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2400" b="1">
                <a:solidFill>
                  <a:srgbClr val="0E9F6E"/>
                </a:solidFill>
              </a:rPr>
              <a:t>huggingface.co/spaces/OD2004/OD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55448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 dirty="0">
                <a:solidFill>
                  <a:srgbClr val="555555"/>
                </a:solidFill>
              </a:rPr>
              <a:t>9 / </a:t>
            </a:r>
            <a:r>
              <a:rPr lang="en-US" sz="1000" b="0" dirty="0">
                <a:solidFill>
                  <a:srgbClr val="555555"/>
                </a:solidFill>
              </a:rPr>
              <a:t>11</a:t>
            </a:r>
            <a:endParaRPr sz="1000" b="0" dirty="0">
              <a:solidFill>
                <a:srgbClr val="555555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731520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0" dirty="0">
                <a:solidFill>
                  <a:srgbClr val="555555"/>
                </a:solidFill>
              </a:rPr>
              <a:t>Kickstarter Pre-Launch Recommender  ·  Omar Doughan</a:t>
            </a:r>
            <a:r>
              <a:rPr lang="en-US" sz="1000" b="0" dirty="0">
                <a:solidFill>
                  <a:srgbClr val="555555"/>
                </a:solidFill>
              </a:rPr>
              <a:t> </a:t>
            </a:r>
            <a:r>
              <a:rPr lang="en-US" sz="1000" dirty="0">
                <a:solidFill>
                  <a:srgbClr val="555555"/>
                </a:solidFill>
              </a:rPr>
              <a:t> ·  Ryan Masri</a:t>
            </a:r>
            <a:endParaRPr sz="1000" b="0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2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6400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3000" b="1">
                <a:solidFill>
                  <a:srgbClr val="122A4F"/>
                </a:solidFill>
              </a:rPr>
              <a:t>Lebanon-related campaigns — qualitative supplement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64240" cy="65248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lang="en-US" sz="2000" b="0" dirty="0">
                <a:solidFill>
                  <a:srgbClr val="555555"/>
                </a:solidFill>
              </a:rPr>
              <a:t>N=49 is too small for reliable subgroup metrics; results have high uncertainty, so we treat this as a small qualitative case-study.</a:t>
            </a:r>
            <a:endParaRPr sz="2000" b="0" dirty="0">
              <a:solidFill>
                <a:srgbClr val="555555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3657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>
                <a:solidFill>
                  <a:srgbClr val="DC2626"/>
                </a:solidFill>
              </a:rPr>
              <a:t>CORRECT RISK FLAG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329184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>
                <a:solidFill>
                  <a:srgbClr val="122A4F"/>
                </a:solidFill>
              </a:rPr>
              <a:t>Lebanese cuisine cookbook (AU)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3291840" cy="1371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122A4F"/>
                </a:solidFill>
              </a:rPr>
              <a:t>Goal $50k · no video · 7-word blurb.</a:t>
            </a:r>
          </a:p>
          <a:p>
            <a:pPr algn="l"/>
            <a:r>
              <a:rPr sz="1200" b="0">
                <a:solidFill>
                  <a:srgbClr val="122A4F"/>
                </a:solidFill>
              </a:rPr>
              <a:t>Model: 2% probability — flagged ALL three issues.</a:t>
            </a:r>
          </a:p>
          <a:p>
            <a:pPr algn="l"/>
            <a:r>
              <a:rPr sz="1200" b="0">
                <a:solidFill>
                  <a:srgbClr val="122A4F"/>
                </a:solidFill>
              </a:rPr>
              <a:t>Actual: failed. Tool would have given the creator concrete fixes pre-launch.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60320"/>
            <a:ext cx="3657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0" y="269748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>
                <a:solidFill>
                  <a:srgbClr val="0E9F6E"/>
                </a:solidFill>
              </a:rPr>
              <a:t>HIGH-CONFIDENCE WIN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017520"/>
            <a:ext cx="329184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>
                <a:solidFill>
                  <a:srgbClr val="122A4F"/>
                </a:solidFill>
              </a:rPr>
              <a:t>AUTOMNE AU LEVANT (FR)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520440"/>
            <a:ext cx="3291840" cy="1371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122A4F"/>
                </a:solidFill>
              </a:rPr>
              <a:t>Goal $3k · short campaign · video.</a:t>
            </a:r>
          </a:p>
          <a:p>
            <a:pPr algn="l"/>
            <a:r>
              <a:rPr sz="1200" b="0">
                <a:solidFill>
                  <a:srgbClr val="122A4F"/>
                </a:solidFill>
              </a:rPr>
              <a:t>Model: 96% probability.</a:t>
            </a:r>
          </a:p>
          <a:p>
            <a:pPr algn="l"/>
            <a:r>
              <a:rPr sz="1200" b="0">
                <a:solidFill>
                  <a:srgbClr val="122A4F"/>
                </a:solidFill>
              </a:rPr>
              <a:t>Actual: succeeded. Clean profile — model rewarded campaigns that got the basics right.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60320"/>
            <a:ext cx="36576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0" y="269748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1">
                <a:solidFill>
                  <a:srgbClr val="D97706"/>
                </a:solidFill>
              </a:rPr>
              <a:t>HUMILITY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017520"/>
            <a:ext cx="329184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1">
                <a:solidFill>
                  <a:srgbClr val="122A4F"/>
                </a:solidFill>
              </a:rPr>
              <a:t>Surprise win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20440"/>
            <a:ext cx="3291840" cy="1371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200" b="0">
                <a:solidFill>
                  <a:srgbClr val="122A4F"/>
                </a:solidFill>
              </a:rPr>
              <a:t>Some campaigns succeed despite a low score — community trust and pre-launch outreach live outside the feature set. A low score is a signal to investigate, not a verdict.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66360"/>
            <a:ext cx="11064240" cy="25237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400" b="0" dirty="0">
                <a:solidFill>
                  <a:srgbClr val="555555"/>
                </a:solidFill>
              </a:rPr>
              <a:t>Plus 3 hypothetical personas (relief film · cookbook · LB-based EP) —</a:t>
            </a:r>
            <a:r>
              <a:rPr lang="en-US" sz="1400" b="0" dirty="0">
                <a:solidFill>
                  <a:srgbClr val="555555"/>
                </a:solidFill>
              </a:rPr>
              <a:t> check </a:t>
            </a:r>
            <a:r>
              <a:rPr sz="1400" b="0" dirty="0">
                <a:solidFill>
                  <a:srgbClr val="555555"/>
                </a:solidFill>
              </a:rPr>
              <a:t>lebanon_deep_case_study.md.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55448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 dirty="0">
                <a:solidFill>
                  <a:srgbClr val="555555"/>
                </a:solidFill>
              </a:rPr>
              <a:t>10 / </a:t>
            </a:r>
            <a:r>
              <a:rPr lang="en-US" sz="1000" b="0" dirty="0">
                <a:solidFill>
                  <a:srgbClr val="555555"/>
                </a:solidFill>
              </a:rPr>
              <a:t>11</a:t>
            </a:r>
            <a:endParaRPr sz="1000" b="0" dirty="0">
              <a:solidFill>
                <a:srgbClr val="555555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731520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0" dirty="0">
                <a:solidFill>
                  <a:srgbClr val="555555"/>
                </a:solidFill>
              </a:rPr>
              <a:t>Kickstarter Pre-Launch Recommender  ·  Omar Doughan</a:t>
            </a:r>
            <a:r>
              <a:rPr lang="en-US" sz="1000" b="0" dirty="0">
                <a:solidFill>
                  <a:srgbClr val="555555"/>
                </a:solidFill>
              </a:rPr>
              <a:t> </a:t>
            </a:r>
            <a:r>
              <a:rPr lang="en-US" sz="1000" dirty="0">
                <a:solidFill>
                  <a:srgbClr val="555555"/>
                </a:solidFill>
              </a:rPr>
              <a:t> ·  Ryan Masri</a:t>
            </a:r>
            <a:endParaRPr sz="1000" b="0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2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9859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lang="en-US" sz="3000" b="1" dirty="0">
                <a:solidFill>
                  <a:srgbClr val="122A4F"/>
                </a:solidFill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Correlational, not causal. SHAP says which features the model used; it does NOT say changing them would change the outcome.</a:t>
            </a:r>
          </a:p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Per-group AUROC ranges 0.69 – 0.90 across categories and countries. The model is not equally calibrated everywhere.</a:t>
            </a:r>
          </a:p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Base-rate shift: post-2022 campaigns succeed 72% in this scrape vs 61% pre-2022. Could be platform changes; could be scraping selection bias. We don't claim to know.</a:t>
            </a:r>
          </a:p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2000" dirty="0">
                <a:solidFill>
                  <a:srgbClr val="122A4F"/>
                </a:solidFill>
              </a:rPr>
              <a:t>•  Deployed model is the tabular </a:t>
            </a:r>
            <a:r>
              <a:rPr sz="2000" dirty="0" err="1">
                <a:solidFill>
                  <a:srgbClr val="122A4F"/>
                </a:solidFill>
              </a:rPr>
              <a:t>XGBoost</a:t>
            </a:r>
            <a:r>
              <a:rPr sz="2000" dirty="0">
                <a:solidFill>
                  <a:srgbClr val="122A4F"/>
                </a:solidFill>
              </a:rPr>
              <a:t> (0.826 AUROC). The headline 0.868 number uses 596k features and is not in the demo.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55448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/>
            <a:r>
              <a:rPr sz="1000" b="0" dirty="0">
                <a:solidFill>
                  <a:srgbClr val="555555"/>
                </a:solidFill>
              </a:rPr>
              <a:t>11 / </a:t>
            </a:r>
            <a:r>
              <a:rPr lang="en-US" sz="1000" b="0" dirty="0">
                <a:solidFill>
                  <a:srgbClr val="555555"/>
                </a:solidFill>
              </a:rPr>
              <a:t>11</a:t>
            </a:r>
            <a:endParaRPr sz="1000" b="0" dirty="0">
              <a:solidFill>
                <a:srgbClr val="555555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19082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000" b="0" dirty="0">
                <a:solidFill>
                  <a:srgbClr val="555555"/>
                </a:solidFill>
              </a:rPr>
              <a:t>Kickstarter Pre-Launch Recommender  ·  Omar Doughan</a:t>
            </a:r>
            <a:r>
              <a:rPr lang="en-US" sz="1000" b="0" dirty="0">
                <a:solidFill>
                  <a:srgbClr val="555555"/>
                </a:solidFill>
              </a:rPr>
              <a:t> </a:t>
            </a:r>
            <a:r>
              <a:rPr lang="en-US" sz="1000" dirty="0">
                <a:solidFill>
                  <a:srgbClr val="555555"/>
                </a:solidFill>
              </a:rPr>
              <a:t> ·  Ryan Masri</a:t>
            </a:r>
            <a:endParaRPr sz="1000" b="0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571</TotalTime>
  <Words>1113</Words>
  <Application>Microsoft Office PowerPoint</Application>
  <PresentationFormat>Widescreen</PresentationFormat>
  <Paragraphs>132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Ryan Masri (Student)</cp:lastModifiedBy>
  <cp:revision>5</cp:revision>
  <dcterms:created xsi:type="dcterms:W3CDTF">2013-01-27T09:14:16Z</dcterms:created>
  <dcterms:modified xsi:type="dcterms:W3CDTF">2026-05-04T03:33:12Z</dcterms:modified>
  <cp:category/>
</cp:coreProperties>
</file>