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12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115568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</a:rPr>
              <a:t>Kickstarter Pre-Launch Recommender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1155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Pre-launch success prediction with SHAP-grounded creator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11155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22A4F"/>
                </a:solidFill>
              </a:rPr>
              <a:t>Omar Doughan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11155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XGBoost  ·  SHAP  ·  Streamlit  ·  Hugging Face Spaces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2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PR1  · 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22A4F"/>
                </a:solidFill>
              </a:rPr>
              <a:t>Most Kickstarter campaigns fail. Creators want to know why.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22A4F"/>
                </a:solidFill>
              </a:rPr>
              <a:t>•  ~40% of Kickstarter campaigns since 2009 failed to hit their funding goal.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22A4F"/>
                </a:solidFill>
              </a:rPr>
              <a:t>•  Existing 'success predictor' tools give a single number — no guidance.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22A4F"/>
                </a:solidFill>
              </a:rPr>
              <a:t>•  Goal: a tool a creator can use BEFORE launch to (1) estimate success probability and (2) get specific, feature-level advice on what to change.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22A4F"/>
                </a:solidFill>
              </a:rPr>
              <a:t>•  Constraint: predictions must use only what the creator controls at launch — no post-outcome features, no curatorial signals.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2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Kickstarter Pre-Launch Recommender  ·  Omar Doughan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2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PR2  · 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22A4F"/>
                </a:solidFill>
              </a:rPr>
              <a:t>334k resolved campaigns, split by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651760" cy="1280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122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122A4F"/>
                </a:solidFill>
              </a:rPr>
              <a:t>334,080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TOTAL CAMPAIGNS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828800"/>
            <a:ext cx="2651760" cy="1280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E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96596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0E9F6E"/>
                </a:solidFill>
              </a:rPr>
              <a:t>236,520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0604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TRAIN  (&lt;2022)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2651760" cy="1280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96596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D97706"/>
                </a:solidFill>
              </a:rPr>
              <a:t>97,560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60604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TEST  (≥2022)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828800"/>
            <a:ext cx="2651760" cy="1280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122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96596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122A4F"/>
                </a:solidFill>
              </a:rPr>
              <a:t>596,114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60604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FEATURE DIMS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3832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Source: WebRobots monthly Kickstarter scrapes (2009 – early 2026)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2336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22A4F"/>
                </a:solidFill>
              </a:rPr>
              <a:t>•  Time-based split, not random — a random split leaks future info into training.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22A4F"/>
                </a:solidFill>
              </a:rPr>
              <a:t>•  Tabular block (52 dims): goal, duration, category, country, video flag, launch timing, blurb stats, Google Trends momentum.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22A4F"/>
                </a:solidFill>
              </a:rPr>
              <a:t>•  Text block (596,062 dims): word + character TF-IDF on the project blurb.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3 / 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Kickstarter Pre-Launch Recommender  ·  Omar Doughan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2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PR2  · 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22A4F"/>
                </a:solidFill>
              </a:rPr>
              <a:t>First model scored AUROC 1.00 — that was the bug, not the win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64240" cy="18288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</a:rPr>
              <a:t>LEAK FOUND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105156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122A4F"/>
                </a:solidFill>
              </a:rPr>
              <a:t>is_spotlight  →  Pearson correlation = 1.00 with the label.</a:t>
            </a:r>
          </a:p>
          <a:p>
            <a:pPr algn="l"/>
            <a:r>
              <a:rPr sz="1800" b="0">
                <a:solidFill>
                  <a:srgbClr val="122A4F"/>
                </a:solidFill>
              </a:rPr>
              <a:t>Kickstarter only sets that flag AFTER a campaign succeeds. Post-outcome.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22A4F"/>
                </a:solidFill>
              </a:rPr>
              <a:t>Two features dropped: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22A4F"/>
                </a:solidFill>
              </a:rPr>
              <a:t>•  is_spotlight — strictly post-outcome.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22A4F"/>
                </a:solidFill>
              </a:rPr>
              <a:t>•  is_staff_pick — curatorial signal, not creator-controllable.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22A4F"/>
                </a:solidFill>
              </a:rPr>
              <a:t>•  Final feature set: 52 tabular + 596k TF-IDF, all controllable at launch.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4 /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Kickstarter Pre-Launch Recommender  ·  Omar Doughan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2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PR2 / PR3  · 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22A4F"/>
                </a:solidFill>
              </a:rPr>
              <a:t>Baseline → tabular XGBoost → full text+tabular XGBoost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1064240" cy="640080"/>
          </a:xfrm>
          <a:prstGeom prst="rect">
            <a:avLst/>
          </a:prstGeom>
          <a:solidFill>
            <a:srgbClr val="122A4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4206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965960"/>
            <a:ext cx="3840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1965960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Test AUROC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68880"/>
            <a:ext cx="11064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4206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122A4F"/>
                </a:solidFill>
              </a:rPr>
              <a:t>Logistic 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606040"/>
            <a:ext cx="3840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122A4F"/>
                </a:solidFill>
              </a:rPr>
              <a:t>52 tabular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2606040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22A4F"/>
                </a:solidFill>
              </a:rPr>
              <a:t>0.773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08960"/>
            <a:ext cx="11064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4206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122A4F"/>
                </a:solidFill>
              </a:rPr>
              <a:t>XGBoost (tabular)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246120"/>
            <a:ext cx="3840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122A4F"/>
                </a:solidFill>
              </a:rPr>
              <a:t>52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3246120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22A4F"/>
                </a:solidFill>
              </a:rPr>
              <a:t>0.826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49040"/>
            <a:ext cx="11064240" cy="640080"/>
          </a:xfrm>
          <a:prstGeom prst="rect">
            <a:avLst/>
          </a:prstGeom>
          <a:solidFill>
            <a:srgbClr val="DCFCE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86200"/>
            <a:ext cx="4206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E9F6E"/>
                </a:solidFill>
              </a:rPr>
              <a:t>XGBoost (full)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886200"/>
            <a:ext cx="3840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E9F6E"/>
                </a:solidFill>
              </a:rPr>
              <a:t>596,114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3886200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E9F6E"/>
                </a:solidFill>
              </a:rPr>
              <a:t>0.868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663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22A4F"/>
                </a:solidFill>
              </a:rPr>
              <a:t>•  Tabular-only XGBoost = the deployable demo (8.5 MB model).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22A4F"/>
                </a:solidFill>
              </a:rPr>
              <a:t>•  Full model (596k features) trained on RTX 5070 with QuantileDMatrix to fit 12 GB VRAM.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22A4F"/>
                </a:solidFill>
              </a:rPr>
              <a:t>•  TF-IDF adds ~4 AUROC points — text helps, but tabular carries the bulk of the signal.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5 /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Kickstarter Pre-Launch Recommender  ·  Omar Doughan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2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PR3  ·  CONTRIBUTION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22A4F"/>
                </a:solidFill>
              </a:rPr>
              <a:t>From a probability score to actionable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122A4F"/>
                </a:solidFill>
              </a:rPr>
              <a:t>Translate per-feature SHAP attributions into plain-language advice.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11064240" cy="1828800"/>
          </a:xfrm>
          <a:prstGeom prst="rect">
            <a:avLst/>
          </a:prstGeom>
          <a:solidFill>
            <a:srgbClr val="F5F5F5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10698480" cy="1554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22A4F"/>
                </a:solidFill>
              </a:rPr>
              <a:t>Rule fires only when:</a:t>
            </a:r>
          </a:p>
          <a:p>
            <a:pPr algn="l"/>
            <a:r>
              <a:rPr sz="1600" b="0">
                <a:solidFill>
                  <a:srgbClr val="122A4F"/>
                </a:solidFill>
              </a:rPr>
              <a:t>    SHAP[feature] &lt; -0.05    AND    suggestion is valid for the current value</a:t>
            </a:r>
          </a:p>
          <a:p>
            <a:pPr algn="l"/>
            <a:r>
              <a:rPr sz="1600" b="0">
                <a:solidFill>
                  <a:srgbClr val="122A4F"/>
                </a:solidFill>
              </a:rPr>
              <a:t>Example: won't suggest 'add a video' if has_video already =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891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22A4F"/>
                </a:solidFill>
              </a:rPr>
              <a:t>Sample output: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846320"/>
            <a:ext cx="109728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E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937760"/>
            <a:ext cx="1060704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122A4F"/>
                </a:solidFill>
              </a:rPr>
              <a:t>“Your goal of $250,000 may be too high for this profile. Consider lowering it.”</a:t>
            </a:r>
          </a:p>
          <a:p>
            <a:pPr algn="l"/>
            <a:r>
              <a:rPr sz="1500" b="0">
                <a:solidFill>
                  <a:srgbClr val="122A4F"/>
                </a:solidFill>
              </a:rPr>
              <a:t>“A 60-day campaign hurts your odds — most successful campaigns run 21–35 days.”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6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Kickstarter Pre-Launch Recommender  ·  Omar Doughan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2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PR3  ·  CONTRIBUTION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22A4F"/>
                </a:solidFill>
              </a:rPr>
              <a:t>A 2010-trained model is unsafe on 2022 campaigns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11064240" cy="502920"/>
          </a:xfrm>
          <a:prstGeom prst="rect">
            <a:avLst/>
          </a:prstGeom>
          <a:solidFill>
            <a:srgbClr val="122A4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Train window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810512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AUROC on own holdout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810512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AUROC on 2022+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1810512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4028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13432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22A4F"/>
                </a:solidFill>
              </a:rPr>
              <a:t>2010 – 2014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313432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22A4F"/>
                </a:solidFill>
              </a:rPr>
              <a:t>0.80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313432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22A4F"/>
                </a:solidFill>
              </a:rPr>
              <a:t>0.64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313432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DC2626"/>
                </a:solidFill>
              </a:rPr>
              <a:t>+0.16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74320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816352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22A4F"/>
                </a:solidFill>
              </a:rPr>
              <a:t>2015 – 2017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816352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22A4F"/>
                </a:solidFill>
              </a:rPr>
              <a:t>0.81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816352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22A4F"/>
                </a:solidFill>
              </a:rPr>
              <a:t>0.76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2816352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DC2626"/>
                </a:solidFill>
              </a:rPr>
              <a:t>+0.05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24612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319272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22A4F"/>
                </a:solidFill>
              </a:rPr>
              <a:t>2018 – 2020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319272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22A4F"/>
                </a:solidFill>
              </a:rPr>
              <a:t>0.83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319272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22A4F"/>
                </a:solidFill>
              </a:rPr>
              <a:t>0.79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3319272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22A4F"/>
                </a:solidFill>
              </a:rPr>
              <a:t>+0.04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4904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822192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22A4F"/>
                </a:solidFill>
              </a:rPr>
              <a:t>2021+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3822192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22A4F"/>
                </a:solidFill>
              </a:rPr>
              <a:t>0.83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822192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22A4F"/>
                </a:solidFill>
              </a:rPr>
              <a:t>0.86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3822192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0E9F6E"/>
                </a:solidFill>
              </a:rPr>
              <a:t>−0.03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22A4F"/>
                </a:solidFill>
              </a:rPr>
              <a:t>Take-away: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3492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22A4F"/>
                </a:solidFill>
              </a:rPr>
              <a:t>•  Old data does not transfer — Kickstarter's distribution has shifted materially.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22A4F"/>
                </a:solidFill>
              </a:rPr>
              <a:t>•  We retrain on rolling windows. We do NOT trust a 2014 model on 2025 campaigns.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4652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7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Kickstarter Pre-Launch Recommender  ·  Omar Doughan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2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PR4  ·  HONEST 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22A4F"/>
                </a:solidFill>
              </a:rPr>
              <a:t>Google Trends momentum did not improve the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122A4F"/>
                </a:solidFill>
              </a:rPr>
              <a:t>Hypothesis: campaigns launched during topic spikes (per Google Trends) would outperform.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11064240" cy="22860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</a:rPr>
              <a:t>ABLATION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122A4F"/>
                </a:solidFill>
              </a:rPr>
              <a:t>Full model with Google Trends      :   AUROC 0.868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122A4F"/>
                </a:solidFill>
              </a:rPr>
              <a:t>Full model WITHOUT Google Trends :   AUROC 0.869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8912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D97706"/>
                </a:solidFill>
              </a:rPr>
              <a:t>Difference: ≤ noise. Trends adds nothing on test.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9496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</a:rPr>
              <a:t>Reporting this honestly. The signal looked plausible a priori; the data did not support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8 /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Kickstarter Pre-Launch Recommender  ·  Omar Doughan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2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PR3  · 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22A4F"/>
                </a:solidFill>
              </a:rPr>
              <a:t>Live on Hugging Face Spaces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22A4F"/>
                </a:solidFill>
              </a:rPr>
              <a:t>•  Streamlit app, Docker SDK, free CPU tier, private (collaborator access).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22A4F"/>
                </a:solidFill>
              </a:rPr>
              <a:t>•  Two modes:  (1) enter a hypothetical campaign,  (2) load a real held-out post-2022 campaign and predict its outcome.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22A4F"/>
                </a:solidFill>
              </a:rPr>
              <a:t>•  Output: probability  +  top SHAP contributors  +  natural-language advice.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22A4F"/>
                </a:solidFill>
              </a:rPr>
              <a:t>•  Ships the tabular XGBoost (8.5 MB).  Full 596k-feature model is too large for a free demo — we trade ~4 AUROC points for portability.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110642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349240"/>
            <a:ext cx="10698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0E9F6E"/>
                </a:solidFill>
              </a:rPr>
              <a:t>huggingface.co/spaces/OD2004/OD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9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Kickstarter Pre-Launch Recommender  ·  Omar Doughan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2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PR3 / PR4  · 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22A4F"/>
                </a:solidFill>
              </a:rPr>
              <a:t>Lebanon-related campaigns — qualitative supplement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6424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N = 49 is too small for reliable subgroup metrics (95% CI on AUROC ≈ 0.66–0.93). We go qualitative.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36576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32918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</a:rPr>
              <a:t>CORRECT RISK FLAG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32918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22A4F"/>
                </a:solidFill>
              </a:rPr>
              <a:t>Lebanese cuisine cookbook (AU)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329184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22A4F"/>
                </a:solidFill>
              </a:rPr>
              <a:t>Goal $50k · no video · 7-word blurb.</a:t>
            </a:r>
          </a:p>
          <a:p>
            <a:pPr algn="l"/>
            <a:r>
              <a:rPr sz="1200" b="0">
                <a:solidFill>
                  <a:srgbClr val="122A4F"/>
                </a:solidFill>
              </a:rPr>
              <a:t>Model: 2% probability — flagged ALL three issues.</a:t>
            </a:r>
          </a:p>
          <a:p>
            <a:pPr algn="l"/>
            <a:r>
              <a:rPr sz="1200" b="0">
                <a:solidFill>
                  <a:srgbClr val="122A4F"/>
                </a:solidFill>
              </a:rPr>
              <a:t>Actual: failed. Tool would have given the creator concrete fixes pre-launch.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560320"/>
            <a:ext cx="36576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697480"/>
            <a:ext cx="32918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0E9F6E"/>
                </a:solidFill>
              </a:rPr>
              <a:t>HIGH-CONFIDENCE WIN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017520"/>
            <a:ext cx="32918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22A4F"/>
                </a:solidFill>
              </a:rPr>
              <a:t>AUTOMNE AU LEVANT (FR)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520440"/>
            <a:ext cx="329184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22A4F"/>
                </a:solidFill>
              </a:rPr>
              <a:t>Goal $3k · short campaign · video.</a:t>
            </a:r>
          </a:p>
          <a:p>
            <a:pPr algn="l"/>
            <a:r>
              <a:rPr sz="1200" b="0">
                <a:solidFill>
                  <a:srgbClr val="122A4F"/>
                </a:solidFill>
              </a:rPr>
              <a:t>Model: 96% probability.</a:t>
            </a:r>
          </a:p>
          <a:p>
            <a:pPr algn="l"/>
            <a:r>
              <a:rPr sz="1200" b="0">
                <a:solidFill>
                  <a:srgbClr val="122A4F"/>
                </a:solidFill>
              </a:rPr>
              <a:t>Actual: succeeded. Clean profile — model rewarded campaigns that got the basics right.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560320"/>
            <a:ext cx="36576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697480"/>
            <a:ext cx="32918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</a:rPr>
              <a:t>HUMILITY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017520"/>
            <a:ext cx="32918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22A4F"/>
                </a:solidFill>
              </a:rPr>
              <a:t>Surprise win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520440"/>
            <a:ext cx="329184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22A4F"/>
                </a:solidFill>
              </a:rPr>
              <a:t>Some campaigns succeed despite a low score — community trust and pre-launch outreach live outside the feature set. A low score is a signal to investigate, not a verdict.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66360"/>
            <a:ext cx="11064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Plus 3 hypothetical personas (relief film · cookbook · LB-based EP) — see lebanon_deep_case_study.md for the full walk-throughs.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10 / 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Kickstarter Pre-Launch Recommender  ·  Omar Doughan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2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PR4  · 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22A4F"/>
                </a:solidFill>
              </a:rPr>
              <a:t>What this tool is NOT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>
                <a:solidFill>
                  <a:srgbClr val="122A4F"/>
                </a:solidFill>
              </a:rPr>
              <a:t>•  Correlational, not causal. SHAP says which features the model used; it does NOT say changing them would change the outcome.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122A4F"/>
                </a:solidFill>
              </a:rPr>
              <a:t>•  Per-group AUROC ranges 0.69 – 0.90 across categories and countries. The model is not equally calibrated everywhere.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122A4F"/>
                </a:solidFill>
              </a:rPr>
              <a:t>•  Base-rate shift: post-2022 campaigns succeed 72% in this scrape vs 61% pre-2022. Could be platform changes; could be scraping selection bias. We don't claim to know.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122A4F"/>
                </a:solidFill>
              </a:rPr>
              <a:t>•  Deployed model is the tabular XGBoost (0.826 AUROC). The headline 0.868 number uses 596k features and is not in the demo.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122A4F"/>
                </a:solidFill>
              </a:rPr>
              <a:t>•  Threshold tuning: balanced operating point at p = 0.64 (P = 0.85, R = 0.86). A different threshold is appropriate if false-positive cost ≠ false-negative cost.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11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Kickstarter Pre-Launch Recommender  ·  Omar Doughan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2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PR4  ·  WRAP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22A4F"/>
                </a:solidFill>
              </a:rPr>
              <a:t>What I'd do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22A4F"/>
                </a:solidFill>
              </a:rPr>
              <a:t>•  Calibrate per-category. The 0.69–0.90 spread across categories means a single global threshold is the wrong call for some segments.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22A4F"/>
                </a:solidFill>
              </a:rPr>
              <a:t>•  Re-test the Trends signal with a query-specific lookup, not a generic one — the current ablation may have under-powered it.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22A4F"/>
                </a:solidFill>
              </a:rPr>
              <a:t>•  Causal layer: replace SHAP-based 'recommendations' with an uplift model trained on near-duplicate campaigns that differ only in one feature.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22A4F"/>
                </a:solidFill>
              </a:rPr>
              <a:t>•  Productionise the retraining cadence — temporal drift implies a 12-month rebuild schedule at minimum.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solidFill>
            <a:srgbClr val="12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12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Kickstarter Pre-Launch Recommender  ·  Omar Doughan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